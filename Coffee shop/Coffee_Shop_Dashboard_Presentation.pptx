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73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DD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9B382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87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7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7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87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D9B382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  <c:pt idx="4">
                    <c:v>10:00</c:v>
                  </c:pt>
                  <c:pt idx="5">
                    <c:v>11:00</c:v>
                  </c:pt>
                  <c:pt idx="6">
                    <c:v>12:00</c:v>
                  </c:pt>
                  <c:pt idx="7">
                    <c:v>13:00</c:v>
                  </c:pt>
                  <c:pt idx="8">
                    <c:v>14:00</c:v>
                  </c:pt>
                  <c:pt idx="9">
                    <c:v>15:00</c:v>
                  </c:pt>
                  <c:pt idx="10">
                    <c:v>16:00</c:v>
                  </c:pt>
                  <c:pt idx="11">
                    <c:v>17:00</c:v>
                  </c:pt>
                  <c:pt idx="12">
                    <c:v>18:00</c:v>
                  </c:pt>
                  <c:pt idx="13">
                    <c:v>19:00</c:v>
                  </c:pt>
                  <c:pt idx="14">
                    <c:v>20:00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21900</c:v>
                </c:pt>
                <c:pt idx="1">
                  <c:v>63526</c:v>
                </c:pt>
                <c:pt idx="2">
                  <c:v>82700</c:v>
                </c:pt>
                <c:pt idx="3">
                  <c:v>85170</c:v>
                </c:pt>
                <c:pt idx="4">
                  <c:v>88673</c:v>
                </c:pt>
                <c:pt idx="5">
                  <c:v>46319</c:v>
                </c:pt>
                <c:pt idx="6">
                  <c:v>40193</c:v>
                </c:pt>
                <c:pt idx="7">
                  <c:v>40367</c:v>
                </c:pt>
                <c:pt idx="8">
                  <c:v>41305</c:v>
                </c:pt>
                <c:pt idx="9">
                  <c:v>41733</c:v>
                </c:pt>
                <c:pt idx="10">
                  <c:v>41123</c:v>
                </c:pt>
                <c:pt idx="11">
                  <c:v>40134</c:v>
                </c:pt>
                <c:pt idx="12">
                  <c:v>34286</c:v>
                </c:pt>
                <c:pt idx="13">
                  <c:v>28447</c:v>
                </c:pt>
                <c:pt idx="14">
                  <c:v>2936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DD2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F7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  <c:pt idx="8">
                    <c:v>Packaged Chocolate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13607</c:v>
                </c:pt>
                <c:pt idx="6">
                  <c:v>11214</c:v>
                </c:pt>
                <c:pt idx="7">
                  <c:v>8409</c:v>
                </c:pt>
                <c:pt idx="8">
                  <c:v>4408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DDD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73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Sustainably Grown Organic Lg</c:v>
                  </c:pt>
                  <c:pt idx="1">
                    <c:v>Dark chocolate Lg</c:v>
                  </c:pt>
                  <c:pt idx="2">
                    <c:v>Latte Rg</c:v>
                  </c:pt>
                  <c:pt idx="3">
                    <c:v>Cappuccino Lg</c:v>
                  </c:pt>
                  <c:pt idx="4">
                    <c:v>Morning Sunrise Chai Lg</c:v>
                  </c:pt>
                  <c:pt idx="5">
                    <c:v>Latte</c:v>
                  </c:pt>
                  <c:pt idx="6">
                    <c:v>Jamaican Coffee River Lg</c:v>
                  </c:pt>
                  <c:pt idx="7">
                    <c:v>Sustainably Grown Organic Rg</c:v>
                  </c:pt>
                  <c:pt idx="8">
                    <c:v>Cappuccino</c:v>
                  </c:pt>
                  <c:pt idx="9">
                    <c:v>Brazilian Lg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21152</c:v>
                </c:pt>
                <c:pt idx="1">
                  <c:v>21006</c:v>
                </c:pt>
                <c:pt idx="2">
                  <c:v>19112</c:v>
                </c:pt>
                <c:pt idx="3">
                  <c:v>17642</c:v>
                </c:pt>
                <c:pt idx="4">
                  <c:v>17384</c:v>
                </c:pt>
                <c:pt idx="5">
                  <c:v>17258</c:v>
                </c:pt>
                <c:pt idx="6">
                  <c:v>16481</c:v>
                </c:pt>
                <c:pt idx="7">
                  <c:v>16234</c:v>
                </c:pt>
                <c:pt idx="8">
                  <c:v>15998</c:v>
                </c:pt>
                <c:pt idx="9">
                  <c:v>15110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5483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Morning Sunrise Chai</c:v>
                  </c:pt>
                  <c:pt idx="1">
                    <c:v>Serenity Green Tea</c:v>
                  </c:pt>
                  <c:pt idx="2">
                    <c:v>English Breakfast</c:v>
                  </c:pt>
                  <c:pt idx="3">
                    <c:v>Traditional Blend Chai</c:v>
                  </c:pt>
                  <c:pt idx="4">
                    <c:v>Peppermint</c:v>
                  </c:pt>
                  <c:pt idx="5">
                    <c:v>Lemon Grass</c:v>
                  </c:pt>
                  <c:pt idx="6">
                    <c:v>Guatemalan Sustainably Grown</c:v>
                  </c:pt>
                  <c:pt idx="7">
                    <c:v>Spicy Eye Opener Chai</c:v>
                  </c:pt>
                  <c:pt idx="8">
                    <c:v>Earl Grey</c:v>
                  </c:pt>
                  <c:pt idx="9">
                    <c:v>Dark chocolate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1596</c:v>
                </c:pt>
                <c:pt idx="1">
                  <c:v>1471</c:v>
                </c:pt>
                <c:pt idx="2">
                  <c:v>1441</c:v>
                </c:pt>
                <c:pt idx="3">
                  <c:v>1369</c:v>
                </c:pt>
                <c:pt idx="4">
                  <c:v>1369</c:v>
                </c:pt>
                <c:pt idx="5">
                  <c:v>1360</c:v>
                </c:pt>
                <c:pt idx="6">
                  <c:v>1340</c:v>
                </c:pt>
                <c:pt idx="7">
                  <c:v>1336</c:v>
                </c:pt>
                <c:pt idx="8">
                  <c:v>1271</c:v>
                </c:pt>
                <c:pt idx="9">
                  <c:v>755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C8873A"/>
            </a:solidFill>
            <a:ln w="38100" cap="flat">
              <a:solidFill>
                <a:srgbClr val="C88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873A"/>
              </a:solidFill>
              <a:ln w="9525" cap="flat">
                <a:solidFill>
                  <a:srgbClr val="C88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  <c:pt idx="4">
                    <c:v>10:00</c:v>
                  </c:pt>
                  <c:pt idx="5">
                    <c:v>11:00</c:v>
                  </c:pt>
                  <c:pt idx="6">
                    <c:v>12:00</c:v>
                  </c:pt>
                  <c:pt idx="7">
                    <c:v>13:00</c:v>
                  </c:pt>
                  <c:pt idx="8">
                    <c:v>14:00</c:v>
                  </c:pt>
                  <c:pt idx="9">
                    <c:v>15:00</c:v>
                  </c:pt>
                  <c:pt idx="10">
                    <c:v>16:00</c:v>
                  </c:pt>
                  <c:pt idx="11">
                    <c:v>17:00</c:v>
                  </c:pt>
                  <c:pt idx="12">
                    <c:v>18:00</c:v>
                  </c:pt>
                  <c:pt idx="13">
                    <c:v>19:00</c:v>
                  </c:pt>
                  <c:pt idx="14">
                    <c:v>20:00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23.1</c:v>
                </c:pt>
                <c:pt idx="2">
                  <c:v>27.4</c:v>
                </c:pt>
                <c:pt idx="3">
                  <c:v>28.1</c:v>
                </c:pt>
                <c:pt idx="4">
                  <c:v>29.2</c:v>
                </c:pt>
                <c:pt idx="5">
                  <c:v>18.9</c:v>
                </c:pt>
                <c:pt idx="6">
                  <c:v>19</c:v>
                </c:pt>
                <c:pt idx="7">
                  <c:v>19.1</c:v>
                </c:pt>
                <c:pt idx="8">
                  <c:v>18.3</c:v>
                </c:pt>
                <c:pt idx="9">
                  <c:v>18.9</c:v>
                </c:pt>
                <c:pt idx="10">
                  <c:v>19.9</c:v>
                </c:pt>
                <c:pt idx="11">
                  <c:v>18.8</c:v>
                </c:pt>
                <c:pt idx="12">
                  <c:v>19.1</c:v>
                </c:pt>
                <c:pt idx="13">
                  <c:v>19.7</c:v>
                </c:pt>
                <c:pt idx="1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2A7F7B"/>
            </a:solidFill>
            <a:ln w="38100" cap="flat">
              <a:solidFill>
                <a:srgbClr val="2A7F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F7B"/>
              </a:solidFill>
              <a:ln w="9525" cap="flat">
                <a:solidFill>
                  <a:srgbClr val="2A7F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  <c:pt idx="4">
                    <c:v>10:00</c:v>
                  </c:pt>
                  <c:pt idx="5">
                    <c:v>11:00</c:v>
                  </c:pt>
                  <c:pt idx="6">
                    <c:v>12:00</c:v>
                  </c:pt>
                  <c:pt idx="7">
                    <c:v>13:00</c:v>
                  </c:pt>
                  <c:pt idx="8">
                    <c:v>14:00</c:v>
                  </c:pt>
                  <c:pt idx="9">
                    <c:v>15:00</c:v>
                  </c:pt>
                  <c:pt idx="10">
                    <c:v>16:00</c:v>
                  </c:pt>
                  <c:pt idx="11">
                    <c:v>17:00</c:v>
                  </c:pt>
                  <c:pt idx="12">
                    <c:v>18:00</c:v>
                  </c:pt>
                  <c:pt idx="13">
                    <c:v>19:00</c:v>
                  </c:pt>
                  <c:pt idx="14">
                    <c:v>20:00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9.3</c:v>
                </c:pt>
                <c:pt idx="1">
                  <c:v>19.1</c:v>
                </c:pt>
                <c:pt idx="2">
                  <c:v>38.2</c:v>
                </c:pt>
                <c:pt idx="3">
                  <c:v>37.4</c:v>
                </c:pt>
                <c:pt idx="4">
                  <c:v>38.4</c:v>
                </c:pt>
                <c:pt idx="5">
                  <c:v>19.9</c:v>
                </c:pt>
                <c:pt idx="6">
                  <c:v>13.5</c:v>
                </c:pt>
                <c:pt idx="7">
                  <c:v>14.5</c:v>
                </c:pt>
                <c:pt idx="8">
                  <c:v>15.2</c:v>
                </c:pt>
                <c:pt idx="9">
                  <c:v>13.8</c:v>
                </c:pt>
                <c:pt idx="10">
                  <c:v>14.9</c:v>
                </c:pt>
                <c:pt idx="11">
                  <c:v>15.6</c:v>
                </c:pt>
                <c:pt idx="12">
                  <c:v>14.4</c:v>
                </c:pt>
                <c:pt idx="13">
                  <c:v>13.3</c:v>
                </c:pt>
                <c:pt idx="14">
                  <c:v>2.9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8B5A3C"/>
            </a:solidFill>
            <a:ln w="38100" cap="flat">
              <a:solidFill>
                <a:srgbClr val="8B5A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A3C"/>
              </a:solidFill>
              <a:ln w="9525" cap="flat">
                <a:solidFill>
                  <a:srgbClr val="8B5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  <c:pt idx="4">
                    <c:v>10:00</c:v>
                  </c:pt>
                  <c:pt idx="5">
                    <c:v>11:00</c:v>
                  </c:pt>
                  <c:pt idx="6">
                    <c:v>12:00</c:v>
                  </c:pt>
                  <c:pt idx="7">
                    <c:v>13:00</c:v>
                  </c:pt>
                  <c:pt idx="8">
                    <c:v>14:00</c:v>
                  </c:pt>
                  <c:pt idx="9">
                    <c:v>15:00</c:v>
                  </c:pt>
                  <c:pt idx="10">
                    <c:v>16:00</c:v>
                  </c:pt>
                  <c:pt idx="11">
                    <c:v>17:00</c:v>
                  </c:pt>
                  <c:pt idx="12">
                    <c:v>18:00</c:v>
                  </c:pt>
                  <c:pt idx="13">
                    <c:v>19:00</c:v>
                  </c:pt>
                  <c:pt idx="14">
                    <c:v>20:00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16.1</c:v>
                </c:pt>
                <c:pt idx="1">
                  <c:v>32</c:v>
                </c:pt>
                <c:pt idx="2">
                  <c:v>31.9</c:v>
                </c:pt>
                <c:pt idx="3">
                  <c:v>32.7</c:v>
                </c:pt>
                <c:pt idx="4">
                  <c:v>34.8</c:v>
                </c:pt>
                <c:pt idx="5">
                  <c:v>15.2</c:v>
                </c:pt>
                <c:pt idx="6">
                  <c:v>15.6</c:v>
                </c:pt>
                <c:pt idx="7">
                  <c:v>14.5</c:v>
                </c:pt>
                <c:pt idx="8">
                  <c:v>15.8</c:v>
                </c:pt>
                <c:pt idx="9">
                  <c:v>16.9</c:v>
                </c:pt>
                <c:pt idx="10">
                  <c:v>15.5</c:v>
                </c:pt>
                <c:pt idx="11">
                  <c:v>14</c:v>
                </c:pt>
                <c:pt idx="12">
                  <c:v>7.9</c:v>
                </c:pt>
                <c:pt idx="13">
                  <c:v>0.7</c:v>
                </c:pt>
                <c:pt idx="14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D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5B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Co-occurrences</c:v>
                </c:pt>
              </c:strCache>
            </c:strRef>
          </c:tx>
          <c:spPr>
            <a:solidFill>
              <a:srgbClr val="2A7F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Espresso + Regular syrup</c:v>
                  </c:pt>
                  <c:pt idx="1">
                    <c:v>Espresso + Scone</c:v>
                  </c:pt>
                  <c:pt idx="2">
                    <c:v>Espresso + Sugar-free syrup</c:v>
                  </c:pt>
                  <c:pt idx="3">
                    <c:v>Chai tea + Scone</c:v>
                  </c:pt>
                  <c:pt idx="4">
                    <c:v>Brewed coffee + Scone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4945</c:v>
                </c:pt>
                <c:pt idx="1">
                  <c:v>1898</c:v>
                </c:pt>
                <c:pt idx="2">
                  <c:v>1799</c:v>
                </c:pt>
                <c:pt idx="3">
                  <c:v>1360</c:v>
                </c:pt>
                <c:pt idx="4">
                  <c:v>1295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engagement: understand sales patterns, product performance and purchase behavior across three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 recomputed from the cleaned data: revenue = qty x unit_price. Transactions = unique transaction_id, which is one product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revenue $442k vs Q1 $257k. The cause of the ramp is not in the data (new stores, marketing or seasonality are all possible); confirm with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hours: 10:00 $88,673 (12.7%), 09:00 $85,170, 08:00 $82,700.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shares from SUM(revenue) by product_category. Bakery is 11.8%, Drinking Chocolate 10.4%.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are Lg/Rg sizes of Drinking Chocolate, Coffee and Chai. Bottom 10 are mostly Loose Tea plus Packaged Dark chocolate ($755). Profit data is not in the dataset, so delisting needs margin data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Avg lines per store-hour-day = lines / 181 days. Astoria has no 06:00 or 20:00 rows; they are plotted as 0 here because the store did not trade 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no basket ID, so combinations are a proxy. Pair counts are from multi-line baskets by product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test is a recommendation to validate, not a finding. Profit cannot be computed from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A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&amp; Customer Behavior | Jan-Jun 2023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Shop Sales &amp;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 Analysis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382"/>
                </a:solidFill>
              </a:rPr>
              <a:t>Revenue optimization strategy  |  Product, pricing and staffing recommendations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E2"/>
                </a:solidFill>
              </a:rPr>
              <a:t>3 stores  |  Jan-Jun 2023  |  149,116 transaction 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0"/>
            <a:ext cx="2011680" cy="2011680"/>
          </a:xfrm>
          <a:prstGeom prst="ellipse">
            <a:avLst/>
          </a:prstGeom>
          <a:solidFill>
            <a:srgbClr val="C8873A"/>
          </a:solidFill>
          <a:ln w="12700">
            <a:solidFill>
              <a:srgbClr val="C88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5029200"/>
            <a:ext cx="1097280" cy="1097280"/>
          </a:xfrm>
          <a:prstGeom prst="ellipse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doubled in six months; mornings drive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66544" cy="1463040"/>
          </a:xfrm>
          <a:prstGeom prst="roundRect">
            <a:avLst>
              <a:gd name="adj" fmla="val 75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98064" y="1737360"/>
            <a:ext cx="2066544" cy="1463040"/>
          </a:xfrm>
          <a:prstGeom prst="roundRect">
            <a:avLst>
              <a:gd name="adj" fmla="val 75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98064" y="1874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89504" y="25603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Transaction lines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7488" y="1737360"/>
            <a:ext cx="2066544" cy="1463040"/>
          </a:xfrm>
          <a:prstGeom prst="roundRect">
            <a:avLst>
              <a:gd name="adj" fmla="val 75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47488" y="1874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25603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Avg order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96912" y="1737360"/>
            <a:ext cx="2066544" cy="1463040"/>
          </a:xfrm>
          <a:prstGeom prst="roundRect">
            <a:avLst>
              <a:gd name="adj" fmla="val 75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1874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25603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Items sold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46336" y="1737360"/>
            <a:ext cx="2066544" cy="1463040"/>
          </a:xfrm>
          <a:prstGeom prst="roundRect">
            <a:avLst>
              <a:gd name="adj" fmla="val 75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46336" y="1874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637776" y="25603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Peak hour (12.7% of revenue)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Growth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5204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Monthly revenue rose from $81.7k (Jan) to $166.5k (Jun), +103.8%. Plan on the Q2 run-rate.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15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Demand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42153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06:00-10:59 earns 48.9% of revenue. Demand is flat 11:00-17:00 and falls after 18:00.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103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Products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9103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Coffee (38.6%) and Tea (28.1%) are two thirds of sales. 38 of 80 products are low on both revenue and volume.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052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Basket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560527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1.44 items per line; 75% of proxy baskets hold one line. Bakery attaches to 17.9% of drink baskets.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grew 104% from January to June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Revenue by month, USD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92024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+103.8%</a:t>
            </a:r>
            <a:endParaRPr lang="en-US" sz="38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Jan to Jun revenue</a:t>
            </a:r>
            <a:endParaRPr lang="en-US" sz="3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$2,635 to $5,550</a:t>
            </a:r>
            <a:endParaRPr lang="en-US" sz="38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average revenue per day</a:t>
            </a:r>
            <a:endParaRPr lang="en-US" sz="3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800" dirty="0"/>
          </a:p>
          <a:p>
            <a:pPr indent="0" marL="0">
              <a:buNone/>
            </a:pPr>
            <a:r>
              <a:rPr lang="en-US" sz="1400" dirty="0">
                <a:solidFill>
                  <a:srgbClr val="2B1A10"/>
                </a:solidFill>
              </a:rPr>
              <a:t>AOV stayed flat at $4.65-$4.72, so growth came from volume, not ticket size.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demand is 07:00-10:00; 10:00 is the busiest hour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Revenue by hour of day, USD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2C1A"/>
                </a:solidFill>
              </a:rPr>
              <a:t>06:00-10:59 = 48.9% of revenue.  </a:t>
            </a:r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11:00-17:00 holds a steady $40-46k per hour; 19:00-20:59 adds only 4.5%.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and Tea generate two thirds of revenue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Revenue by product category, USD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737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Coffee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55280" y="278892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28.1%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788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Tea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55280" y="3840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3840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Bakery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55280" y="48920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892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4892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Drinking Chocolate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989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</a:rPr>
              <a:t>Coffee beans, Branded goods and Loose Tea together add 9.3% of revenue.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sellers are large drinks; the tail is loose tea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Top 10 and bottom 10 products by revenue, USD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Top 10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83A"/>
                </a:solidFill>
              </a:rPr>
              <a:t>Bottom 10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8288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to the morning peak; stores differ sharply after 18:00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Average transaction lines per hour per day, by store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28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2C1A"/>
                </a:solidFill>
              </a:rPr>
              <a:t>Hell's Kitchen peaks hardest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A10"/>
                </a:solidFill>
              </a:rPr>
              <a:t>38 lines/hour at 08:00-10:00, over twice its midday level.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12480" y="315468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32461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2C1A"/>
                </a:solidFill>
              </a:rPr>
              <a:t>Lower Manhattan fades early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A10"/>
                </a:solidFill>
              </a:rPr>
              <a:t>Under 8 lines/hour from 18:00 and under 1 at 19:00.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12480" y="457200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4663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2C1A"/>
                </a:solidFill>
              </a:rPr>
              <a:t>Astoria is steadier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A10"/>
                </a:solidFill>
              </a:rPr>
              <a:t>Data runs 07:00-19:59 only; about 19 lines/hour from 11:00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Baskets are shallow, so bundling is the clearest AOV lever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Purchase behavior (proxy: lines sharing store, date and timestamp = one basket)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items per transaction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of proxy baskets are single-line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of drink baskets include bakery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$5.98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avg proxy basket value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291840"/>
          <a:ext cx="6766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680960" y="347472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F7B"/>
                </a:solidFill>
              </a:rPr>
              <a:t>Scenario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1A10"/>
                </a:solidFill>
              </a:rPr>
              <a:t>Lifting bakery attach by 5 points adds about $20.7k over six months (about +3.0% of revenue).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5B4F"/>
                </a:solidFill>
              </a:rPr>
              <a:t>The 5-point uplift is a planning assumption, not an observed result.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Recommendations: where to act 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Revenue, product, pricing and staffing actions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C8873A"/>
          </a:solidFill>
          <a:ln w="12700">
            <a:solidFill>
              <a:srgbClr val="C887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AOV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0"/>
                </a:solidFill>
              </a:rPr>
              <a:t>Bundle drink + bakery (target +5 pts attach). Prompt "add a flavour?" at the register: syrups are the top add-on. Merchandise coffee beans, which grew 106% Q2 vs Q1.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2A7F7B"/>
          </a:solidFill>
          <a:ln w="12700">
            <a:solidFill>
              <a:srgbClr val="2A7F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mix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1460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0"/>
                </a:solidFill>
              </a:rPr>
              <a:t>Feature the top Lg/Rg drinks at the counter. Review the 38 low-revenue, low-volume products and the loose-tea range; get cost data before delisting.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C8873A"/>
          </a:solidFill>
          <a:ln w="12700">
            <a:solidFill>
              <a:srgbClr val="C887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0"/>
                </a:solidFill>
              </a:rPr>
              <a:t>Standardise unit prices: 1,262 lines carry off-list prices. Test a small premium on best-selling large sizes after confirming the price history.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4ECE2"/>
          </a:solidFill>
          <a:ln w="12700">
            <a:solidFill>
              <a:srgbClr val="F4E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2A7F7B"/>
          </a:solidFill>
          <a:ln w="12700">
            <a:solidFill>
              <a:srgbClr val="2A7F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and operations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0"/>
                </a:solidFill>
              </a:rPr>
              <a:t>Add capacity 07:00-10:00 at every store, most at Hell's Kitchen. Trial afternoon promotions. Review Lower Manhattan evening hours. Use one weekly pattern; weekends match weekdays.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caveats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5C3A25"/>
          </a:solidFill>
          <a:ln w="12700">
            <a:solidFill>
              <a:srgbClr val="5C3A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B3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with data owner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8745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340 missing transaction IDs (0.23%), 1,262 off-list price lines (net -$834), 10 Civet Cat lines at qty 8.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5C3A25"/>
          </a:solidFill>
          <a:ln w="12700">
            <a:solidFill>
              <a:srgbClr val="5C3A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29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B3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dataset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42900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Cost, profit, customer ID, discounts and basket ID. Profit, loyalty and true basket analysis need these.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5C3A25"/>
          </a:solidFill>
          <a:ln w="12700">
            <a:solidFill>
              <a:srgbClr val="5C3A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9834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B3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498348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Validate growth drivers with the client, add cost data, then build the Power BI model from the data pack and track the KPIs monthly.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ffee">
  <a:themeElements>
    <a:clrScheme name="Coffee">
      <a:dk1>
        <a:srgbClr val="2B1A10"/>
      </a:dk1>
      <a:lt1>
        <a:srgbClr val="FFFFFF"/>
      </a:lt1>
      <a:dk2>
        <a:srgbClr val="4A2C1A"/>
      </a:dk2>
      <a:lt2>
        <a:srgbClr val="F4ECE2"/>
      </a:lt2>
      <a:accent1>
        <a:srgbClr val="C8873A"/>
      </a:accent1>
      <a:accent2>
        <a:srgbClr val="2A7F7B"/>
      </a:accent2>
      <a:accent3>
        <a:srgbClr val="8B5A3C"/>
      </a:accent3>
      <a:accent4>
        <a:srgbClr val="D9B382"/>
      </a:accent4>
      <a:accent5>
        <a:srgbClr val="B5483A"/>
      </a:accent5>
      <a:accent6>
        <a:srgbClr val="7A8B6F"/>
      </a:accent6>
      <a:hlink>
        <a:srgbClr val="2A7F7B"/>
      </a:hlink>
      <a:folHlink>
        <a:srgbClr val="8B5A3C"/>
      </a:folHlink>
    </a:clrScheme>
    <a:fontScheme name="Coff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2026-10-12T07:32:07Z</dcterms:created>
  <dcterms:modified xsi:type="dcterms:W3CDTF">2026-10-12T07:32:07Z</dcterms:modified>
</cp:coreProperties>
</file>